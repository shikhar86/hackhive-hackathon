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06df805eb4407a" /><Relationship Type="http://schemas.openxmlformats.org/officeDocument/2006/relationships/extended-properties" Target="/docProps/app.xml" Id="R1d647bc9414949bd" /><Relationship Type="http://schemas.openxmlformats.org/officeDocument/2006/relationships/officeDocument" Target="/ppt/presentation.xml" Id="Rb736fbe1b7fa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2bc5320604433c"/>
  </p:sldMasterIdLst>
  <p:notesMasterIdLst>
    <p:notesMasterId xmlns:r="http://schemas.openxmlformats.org/officeDocument/2006/relationships" r:id="R6dea172b5bb2473c"/>
  </p:notesMasterIdLst>
  <p:sldIdLst>
    <p:sldId xmlns:r="http://schemas.openxmlformats.org/officeDocument/2006/relationships" id="256" r:id="Rad9fb9f35221462b"/>
    <p:sldId xmlns:r="http://schemas.openxmlformats.org/officeDocument/2006/relationships" id="257" r:id="Rf25efd73aa7c4376"/>
    <p:sldId xmlns:r="http://schemas.openxmlformats.org/officeDocument/2006/relationships" id="258" r:id="R7f21a60a95ab4abd"/>
    <p:sldId xmlns:r="http://schemas.openxmlformats.org/officeDocument/2006/relationships" id="259" r:id="Rc6ff0619a5e741cf"/>
    <p:sldId xmlns:r="http://schemas.openxmlformats.org/officeDocument/2006/relationships" id="260" r:id="R2b75f30cf8c64b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7d2cfc2564fbe" /><Relationship Type="http://schemas.openxmlformats.org/officeDocument/2006/relationships/slideMaster" Target="/ppt/slideMasters/slideMaster1.xml" Id="Re22bc5320604433c" /><Relationship Type="http://schemas.openxmlformats.org/officeDocument/2006/relationships/notesMaster" Target="/ppt/notesMasters/notesMaster1.xml" Id="R6dea172b5bb2473c" /><Relationship Type="http://schemas.openxmlformats.org/officeDocument/2006/relationships/presProps" Target="/ppt/presProps.xml" Id="R0589beb8cdba4044" /><Relationship Type="http://schemas.openxmlformats.org/officeDocument/2006/relationships/tableStyles" Target="/ppt/tableStyles.xml" Id="Rf4513d5c716c4888" /><Relationship Type="http://schemas.openxmlformats.org/officeDocument/2006/relationships/slide" Target="/ppt/slides/slide1.xml" Id="Rad9fb9f35221462b" /><Relationship Type="http://schemas.openxmlformats.org/officeDocument/2006/relationships/slide" Target="/ppt/slides/slide2.xml" Id="Rf25efd73aa7c4376" /><Relationship Type="http://schemas.openxmlformats.org/officeDocument/2006/relationships/slide" Target="/ppt/slides/slide3.xml" Id="R7f21a60a95ab4abd" /><Relationship Type="http://schemas.openxmlformats.org/officeDocument/2006/relationships/slide" Target="/ppt/slides/slide4.xml" Id="Rc6ff0619a5e741cf" /><Relationship Type="http://schemas.openxmlformats.org/officeDocument/2006/relationships/slide" Target="/ppt/slides/slide5.xml" Id="R2b75f30cf8c6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14aa942eb2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7142345e243ec" /><Relationship Type="http://schemas.openxmlformats.org/officeDocument/2006/relationships/notesMaster" Target="/ppt/notesMasters/notesMaster1.xml" Id="Rf1e4a40e24eb41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64146673c04b72" /><Relationship Type="http://schemas.openxmlformats.org/officeDocument/2006/relationships/notesMaster" Target="/ppt/notesMasters/notesMaster1.xml" Id="Rc2c9d7901a0c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b7c11ac184c4e" /><Relationship Type="http://schemas.openxmlformats.org/officeDocument/2006/relationships/notesMaster" Target="/ppt/notesMasters/notesMaster1.xml" Id="Rb5d27113a861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fe1e17e9174ed5" /><Relationship Type="http://schemas.openxmlformats.org/officeDocument/2006/relationships/notesMaster" Target="/ppt/notesMasters/notesMaster1.xml" Id="Rb07335f8b5d84f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b910fce9cc49a2" /><Relationship Type="http://schemas.openxmlformats.org/officeDocument/2006/relationships/notesMaster" Target="/ppt/notesMasters/notesMaster1.xml" Id="R298f0ccc311b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Honeywell problem statement 3; README.md; docs/phase5-evaluation.md. Current demonstrated category: person_down.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docs/phase5-evaluation.md. The current detector keeps person_down only. Semantic search uses local Ollama and is optional.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docs/phase5-evaluation.md. Four clips were also used during threshold selection. This is a descriptive in-sample result, not accuracy on unseen video. Matrix: TP=2, FN=1, FP=1, TN=0.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docs/phase5-evaluation.md, eval/phase5_latency_results.json and eval/phase5_dashboard_probe_results.json. The dashboard timing ends when the table cell appears in the browser DOM, not at pixel paint. The cold 30-second clip run took 34.71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docs/phase5-evaluation.md and README.md. The current person-down rule is a bounding-box heuristic. The other four named categories have been cut from the standard demo because there is no evaluated classifier for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8e1c5ea7d4f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4970e53fd42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a60e9cd7247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c711705154c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ddc60781a4a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66d98fd71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0B6F36-AA22-4766-B58A-08A0FC275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AA2D53-A9F4-43F5-8D38-FB2C4D9C08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817052-8AD7-4053-80B1-62A90D427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151541-BC02-43F0-8067-78A083A4D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6FAE9B-C55E-4A69-9FF1-DE34E76B2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248570-31C8-4F9B-8C68-6F8C2FFC6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BE748D-52D0-4526-8B5F-423F66777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DACF7E-33BE-42ED-B6DC-B56F1BAD8E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56E1D8-EFC8-44ED-819F-7860B4899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2524B5-32F0-4797-9389-7442BB3B4F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46a47ac33745f2" /><Relationship Type="http://schemas.openxmlformats.org/officeDocument/2006/relationships/slideLayout" Target="/ppt/slideLayouts/slideLayout1.xml" Id="R59c6efa686144b56" /><Relationship Type="http://schemas.openxmlformats.org/officeDocument/2006/relationships/slideLayout" Target="/ppt/slideLayouts/slideLayout2.xml" Id="Re5f6b9407f054a40" /><Relationship Type="http://schemas.openxmlformats.org/officeDocument/2006/relationships/slideLayout" Target="/ppt/slideLayouts/slideLayout3.xml" Id="R3c14050b5ab741bb" /><Relationship Type="http://schemas.openxmlformats.org/officeDocument/2006/relationships/slideLayout" Target="/ppt/slideLayouts/slideLayout4.xml" Id="Rb9a8f1e063124806" /><Relationship Type="http://schemas.openxmlformats.org/officeDocument/2006/relationships/slideLayout" Target="/ppt/slideLayouts/slideLayout5.xml" Id="R6d6be8baf5bb4cfa" /><Relationship Type="http://schemas.openxmlformats.org/officeDocument/2006/relationships/slideLayout" Target="/ppt/slideLayouts/slideLayout6.xml" Id="Rcce0c892fe8748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6efa686144b56"/>
    <p:sldLayoutId xmlns:r="http://schemas.openxmlformats.org/officeDocument/2006/relationships" id="2147483650" r:id="Re5f6b9407f054a40"/>
    <p:sldLayoutId xmlns:r="http://schemas.openxmlformats.org/officeDocument/2006/relationships" id="2147483651" r:id="R3c14050b5ab741bb"/>
    <p:sldLayoutId xmlns:r="http://schemas.openxmlformats.org/officeDocument/2006/relationships" id="2147483652" r:id="Rb9a8f1e063124806"/>
    <p:sldLayoutId xmlns:r="http://schemas.openxmlformats.org/officeDocument/2006/relationships" id="2147483653" r:id="R6d6be8baf5bb4cfa"/>
    <p:sldLayoutId xmlns:r="http://schemas.openxmlformats.org/officeDocument/2006/relationships" id="2147483654" r:id="Rcce0c892fe8748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c3905691b4bcd" /><Relationship Type="http://schemas.openxmlformats.org/officeDocument/2006/relationships/notesSlide" Target="/ppt/notesSlides/notesSlide1.xml" Id="R1af107c5c9c5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f77d76cb34006" /><Relationship Type="http://schemas.openxmlformats.org/officeDocument/2006/relationships/notesSlide" Target="/ppt/notesSlides/notesSlide2.xml" Id="R21fc095c920046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589b8fcb643dc" /><Relationship Type="http://schemas.openxmlformats.org/officeDocument/2006/relationships/notesSlide" Target="/ppt/notesSlides/notesSlide3.xml" Id="R60859b1f93e3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8f0399d0e409a" /><Relationship Type="http://schemas.openxmlformats.org/officeDocument/2006/relationships/notesSlide" Target="/ppt/notesSlides/notesSlide4.xml" Id="Rb51ea17550a1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987286adc4254" /><Relationship Type="http://schemas.openxmlformats.org/officeDocument/2006/relationships/notesSlide" Target="/ppt/notesSlides/notesSlide5.xml" Id="Rf8c78445be56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A1098-C73D-4394-94EE-81F32E1C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572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10243A"/>
                </a:solidFill>
              </a:defRPr>
            </a:pPr>
            <a:r>
              <a:rPr sz="4350" b="1">
                <a:solidFill>
                  <a:srgbClr val="10243A"/>
                </a:solidFill>
              </a:rPr>
              <a:t>Local surveillance event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CF4B2-F634-458A-B266-9F94632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A7775"/>
                </a:solidFill>
              </a:defRPr>
            </a:pPr>
            <a:r>
              <a:rPr sz="2175" b="0">
                <a:solidFill>
                  <a:srgbClr val="0A7775"/>
                </a:solidFill>
              </a:rPr>
              <a:t>Honeywell problem statement 3 · Phase 5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D847A-78EA-4AB9-B666-0E4078B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6575"/>
                </a:solidFill>
              </a:defRPr>
            </a:pPr>
            <a:r>
              <a:rPr sz="1725" b="0">
                <a:solidFill>
                  <a:srgbClr val="556575"/>
                </a:solidFill>
              </a:rPr>
              <a:t>16 October 2026  |  Single laptop · Local open-source inference</a:t>
            </a:r>
          </a:p>
        </p:txBody>
      </p:sp>
    </p:spTree>
    <p:extLst>
      <p:ext uri="{BB962C8B-B14F-4D97-AF65-F5344CB8AC3E}">
        <p14:creationId xmlns:p14="http://schemas.microsoft.com/office/powerpoint/2010/main" val="847315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ABBF0-07E4-400E-849E-7ECA0EF6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</a:defRPr>
            </a:pPr>
            <a:r>
              <a:rPr sz="3300" b="1">
                <a:solidFill>
                  <a:srgbClr val="10243A"/>
                </a:solidFill>
              </a:rPr>
              <a:t>What the prototype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7878E-0C8B-4178-8648-05A8949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6575"/>
                </a:solidFill>
              </a:defRPr>
            </a:pPr>
            <a:r>
              <a:rPr sz="1200" b="0">
                <a:solidFill>
                  <a:srgbClr val="556575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EF83F-D3AF-4081-AFC5-61BC31D5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Video or camera  →  2 FPS sampled frames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4928E-286D-403B-81B0-89C4CFEB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YOLO people  →  ByteTrack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C3375-E2D5-4929-929E-963AB90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Person-down rule  →  keyframe + local SmolVLM caption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D2F09-963D-43E2-8826-5EFC554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SQLite event  →  Streamlit dashboard + read-only 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164D7-AE45-41D9-8E5A-0CF5018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A7775"/>
                </a:solidFill>
              </a:defRPr>
            </a:pPr>
            <a:r>
              <a:rPr sz="1800" b="0">
                <a:solidFill>
                  <a:srgbClr val="0A7775"/>
                </a:solidFill>
              </a:rPr>
              <a:t>Optional local semantic search ranks stored event summaries.</a:t>
            </a:r>
          </a:p>
        </p:txBody>
      </p:sp>
    </p:spTree>
    <p:extLst>
      <p:ext uri="{BB962C8B-B14F-4D97-AF65-F5344CB8AC3E}">
        <p14:creationId xmlns:p14="http://schemas.microsoft.com/office/powerpoint/2010/main" val="1623981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4AE37-5DFA-4843-BADA-3649D40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</a:defRPr>
            </a:pPr>
            <a:r>
              <a:rPr sz="3300" b="1">
                <a:solidFill>
                  <a:srgbClr val="10243A"/>
                </a:solidFill>
              </a:rPr>
              <a:t>Results on reviewed clips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6B532-A17E-4081-854F-044BA85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6575"/>
                </a:solidFill>
              </a:defRPr>
            </a:pPr>
            <a:r>
              <a:rPr sz="1200" b="0">
                <a:solidFill>
                  <a:srgbClr val="556575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DC312-471A-461F-8C77-8F3890C9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A7775"/>
                </a:solidFill>
              </a:defRPr>
            </a:pPr>
            <a:r>
              <a:rPr sz="4200" b="1">
                <a:solidFill>
                  <a:srgbClr val="0A7775"/>
                </a:solidFill>
              </a:rPr>
              <a:t>2 of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9F1A3-909D-4F40-AC80-91E7314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</a:defRPr>
            </a:pPr>
            <a:r>
              <a:rPr sz="2100" b="0">
                <a:solidFill>
                  <a:srgbClr val="10243A"/>
                </a:solidFill>
              </a:rPr>
              <a:t>reviewed fall clips triggered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B6F8-99F4-495F-B8B4-D3A7245D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0A7775"/>
                </a:solidFill>
              </a:defRPr>
            </a:pPr>
            <a:r>
              <a:rPr sz="4200" b="1">
                <a:solidFill>
                  <a:srgbClr val="0A7775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E1C55-8023-4910-A1C7-061EAFA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0243A"/>
                </a:solidFill>
              </a:defRPr>
            </a:pPr>
            <a:r>
              <a:rPr sz="2100" b="0">
                <a:solidFill>
                  <a:srgbClr val="10243A"/>
                </a:solidFill>
              </a:rPr>
              <a:t>false alerts on 322 s of normal shop footage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513D5-F3F1-43AA-B0C5-FE169DD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43A"/>
                </a:solidFill>
              </a:defRPr>
            </a:pPr>
            <a:r>
              <a:rPr sz="2400" b="1">
                <a:solidFill>
                  <a:srgbClr val="10243A"/>
                </a:solidFill>
              </a:rPr>
              <a:t>25/25 saved chatbot questions passed.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2032-259A-4DF2-A112-509552D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6575"/>
                </a:solidFill>
              </a:defRPr>
            </a:pPr>
            <a:r>
              <a:rPr sz="1725" b="0">
                <a:solidFill>
                  <a:srgbClr val="556575"/>
                </a:solidFill>
              </a:rPr>
              <a:t>Clip-level precision and recall: 66.7% each on four in-sample clips.</a:t>
            </a:r>
          </a:p>
        </p:txBody>
      </p:sp>
    </p:spTree>
    <p:extLst>
      <p:ext uri="{BB962C8B-B14F-4D97-AF65-F5344CB8AC3E}">
        <p14:creationId xmlns:p14="http://schemas.microsoft.com/office/powerpoint/2010/main" val="517632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14D54-9F8B-47EE-81A4-237D7BF8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</a:defRPr>
            </a:pPr>
            <a:r>
              <a:rPr sz="3300" b="1">
                <a:solidFill>
                  <a:srgbClr val="10243A"/>
                </a:solidFill>
              </a:rPr>
              <a:t>Measured response times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4ABD8-1570-45F0-A8E7-CDC8A43F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6575"/>
                </a:solidFill>
              </a:defRPr>
            </a:pPr>
            <a:r>
              <a:rPr sz="1200" b="0">
                <a:solidFill>
                  <a:srgbClr val="556575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DE8CB-AC6B-4A18-9B5D-A888E244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Warm YOLO + ByteTrack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5699F-ACA4-41B1-AEB0-F4BCA2E7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9725"/>
            <a:ext cx="5476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A7775"/>
                </a:solidFill>
              </a:defRPr>
            </a:pPr>
            <a:r>
              <a:rPr sz="2025" b="0">
                <a:solidFill>
                  <a:srgbClr val="0A7775"/>
                </a:solidFill>
              </a:rPr>
              <a:t>86 ms average · 116 ms worst  (59 frames)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916B3-5FA2-4769-A30B-A9C0A04A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Real SmolVLM caption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A4537-3367-427F-8EF8-35429C92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0A7775"/>
                </a:solidFill>
              </a:defRPr>
            </a:pPr>
            <a:r>
              <a:rPr sz="1950" b="0">
                <a:solidFill>
                  <a:srgbClr val="0A7775"/>
                </a:solidFill>
              </a:rPr>
              <a:t>9.89 s average · 17.53 s worst  (2 events)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AB216-85F7-4135-97B7-90F1078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Read-only chatbot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F091C-5221-4489-9A8A-F31CF68A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7775"/>
                </a:solidFill>
              </a:defRPr>
            </a:pPr>
            <a:r>
              <a:rPr sz="1875" b="0">
                <a:solidFill>
                  <a:srgbClr val="0A7775"/>
                </a:solidFill>
              </a:rPr>
              <a:t>7.29 ms average · 10.27 ms worst  (25 queries)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E4577-E78C-4ACD-952E-121EADC2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Event to dashboard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1BF12-1E05-4076-A703-668E25F6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10075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7775"/>
                </a:solidFill>
              </a:defRPr>
            </a:pPr>
            <a:r>
              <a:rPr sz="1875" b="0">
                <a:solidFill>
                  <a:srgbClr val="0A7775"/>
                </a:solidFill>
              </a:rPr>
              <a:t>4.78 s average · 4.98 s worst  (3 events)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57818-7308-405B-BC44-509643F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38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6575"/>
                </a:solidFill>
              </a:defRPr>
            </a:pPr>
            <a:r>
              <a:rPr sz="1725" b="0">
                <a:solidFill>
                  <a:srgbClr val="556575"/>
                </a:solidFill>
              </a:rPr>
              <a:t>RTX 3050 laptop GPU · 60-frame cold video run: 34.71 s</a:t>
            </a:r>
          </a:p>
        </p:txBody>
      </p:sp>
    </p:spTree>
    <p:extLst>
      <p:ext uri="{BB962C8B-B14F-4D97-AF65-F5344CB8AC3E}">
        <p14:creationId xmlns:p14="http://schemas.microsoft.com/office/powerpoint/2010/main" val="250836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8C3BA-3D8F-4D0B-AA2A-C27DE01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43A"/>
                </a:solidFill>
              </a:defRPr>
            </a:pPr>
            <a:r>
              <a:rPr sz="3300" b="1">
                <a:solidFill>
                  <a:srgbClr val="10243A"/>
                </a:solidFill>
              </a:rPr>
              <a:t>Limits and 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F5879-1E20-4628-892F-62390A0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657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56575"/>
                </a:solidFill>
              </a:defRPr>
            </a:pPr>
            <a:r>
              <a:rPr sz="1200" b="0">
                <a:solidFill>
                  <a:srgbClr val="556575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02E7A-B47C-41C8-B4D6-BAF41871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Missed one reviewed icy-walk slip.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AEBE-1954-4862-A5A2-AFF21CA9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0243A"/>
                </a:solidFill>
              </a:defRPr>
            </a:pPr>
            <a:r>
              <a:rPr sz="2325" b="0">
                <a:solidFill>
                  <a:srgbClr val="10243A"/>
                </a:solidFill>
              </a:rPr>
              <a:t>Two shop alerts were a partial head and a standing shopper.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3C2A4-EACE-48ED-B070-10BEBF5C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0243A"/>
                </a:solidFill>
              </a:defRPr>
            </a:pPr>
            <a:r>
              <a:rPr sz="2175" b="0">
                <a:solidFill>
                  <a:srgbClr val="10243A"/>
                </a:solidFill>
              </a:rPr>
              <a:t>Fighting, tailgating, crowd incident and suspicious activity are outside this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08C15-8057-4DCD-BC00-3A99DEB7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A7775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A7775"/>
                </a:solidFill>
              </a:defRPr>
            </a:pPr>
            <a:r>
              <a:rPr sz="2025" b="1">
                <a:solidFill>
                  <a:srgbClr val="0A7775"/>
                </a:solidFill>
              </a:rPr>
              <a:t>Next: independently label unseen footage and evaluate the revised rule.</a:t>
            </a:r>
          </a:p>
        </p:txBody>
      </p:sp>
    </p:spTree>
    <p:extLst>
      <p:ext uri="{BB962C8B-B14F-4D97-AF65-F5344CB8AC3E}">
        <p14:creationId xmlns:p14="http://schemas.microsoft.com/office/powerpoint/2010/main" val="1809169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2026-10-16T06:42:55.1990000Z</dcterms:created>
  <dcterms:modified xsi:type="dcterms:W3CDTF">2026-10-16T06:42:55.1990000Z</dcterms:modified>
</coreProperties>
</file>